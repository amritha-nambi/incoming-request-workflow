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254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AF7A"/>
                </a:solidFill>
                <a:latin typeface="Arial"/>
              </a:rPr>
              <a:t>STEM PROTOTYPE · TELECOM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Arial"/>
              </a:rPr>
              <a:t>Incoming Request Processing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E8EAED"/>
                </a:solidFill>
                <a:latin typeface="Arial"/>
              </a:rPr>
              <a:t>AI classification + branch-specific remediation for Orbit Mobile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A93A6"/>
                </a:solidFill>
                <a:latin typeface="Arial"/>
              </a:rPr>
              <a:t>Complaint  ·  Enquiry  ·  Service Request  ·  Escalation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AF7A"/>
                </a:solidFill>
                <a:latin typeface="Arial"/>
              </a:rP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Manual triage doesn't scale, and treats every request the same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3736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BAF7A"/>
                </a:solidFill>
                <a:latin typeface="Arial"/>
              </a:rPr>
              <a:t>▸  High volume, mixed channels</a:t>
            </a:r>
            <a:r>
              <a:rPr sz="1700" b="0">
                <a:solidFill>
                  <a:srgbClr val="FFFFFF"/>
                </a:solidFill>
                <a:latin typeface="Arial"/>
              </a:rPr>
              <a:t>  —  requests arrive via email, web forms, and a shared support inbox, with no consistent structure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BAF7A"/>
                </a:solidFill>
                <a:latin typeface="Arial"/>
              </a:rPr>
              <a:t>▸  Manual triage is slow and inconsistent</a:t>
            </a:r>
            <a:r>
              <a:rPr sz="1700" b="0">
                <a:solidFill>
                  <a:srgbClr val="FFFFFF"/>
                </a:solidFill>
                <a:latin typeface="Arial"/>
              </a:rPr>
              <a:t>  —  different agents classify the same kind of request differently, and urgency judgment varies person to person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BAF7A"/>
                </a:solidFill>
                <a:latin typeface="Arial"/>
              </a:rPr>
              <a:t>▸  Urgent issues get buried</a:t>
            </a:r>
            <a:r>
              <a:rPr sz="1700" b="0">
                <a:solidFill>
                  <a:srgbClr val="FFFFFF"/>
                </a:solidFill>
                <a:latin typeface="Arial"/>
              </a:rPr>
              <a:t>  —  a total outage or safety complaint can sit in the same queue as a routine billing question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700" b="1">
                <a:solidFill>
                  <a:srgbClr val="1BAF7A"/>
                </a:solidFill>
                <a:latin typeface="Arial"/>
              </a:rPr>
              <a:t>▸  Every request gets the same treatment</a:t>
            </a:r>
            <a:r>
              <a:rPr sz="1700" b="0">
                <a:solidFill>
                  <a:srgbClr val="FFFFFF"/>
                </a:solidFill>
                <a:latin typeface="Arial"/>
              </a:rPr>
              <a:t>  —  no automatic routing to the right department, no drafted response, no SLA tracking by default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737360"/>
            <a:ext cx="5029200" cy="411480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6596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AF7A"/>
                </a:solidFill>
                <a:latin typeface="Arial"/>
              </a:rPr>
              <a:t>WHAT WE NEED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42316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▸  Classify every request by type AND urgency automatically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▸  Trigger a distinct set of downstream actions per type — not a one-size-fits-all response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FFFFFF"/>
                </a:solidFill>
                <a:latin typeface="Arial"/>
              </a:rPr>
              <a:t>▸  Keep a human in the loop for anything sensitive, with full visibility into what the AI did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Incoming Request Processing Workflow — Orbit Mobile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AF7A"/>
                </a:solidFill>
                <a:latin typeface="Arial"/>
              </a:rPr>
              <a:t>02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Two layers: FastAPI reasons, n8n orchestrates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1828800" cy="1371600"/>
          </a:xfrm>
          <a:prstGeom prst="rect">
            <a:avLst/>
          </a:prstGeom>
          <a:solidFill>
            <a:srgbClr val="35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Inbound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Web form · Email ·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BAF7A"/>
                </a:solidFill>
                <a:latin typeface="Arial"/>
              </a:rPr>
              <a:t>▸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0" y="1691640"/>
            <a:ext cx="1828800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7830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n8n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(triggers)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1488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Form Trigger · IMAP poll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BAF7A"/>
                </a:solidFill>
                <a:latin typeface="Arial"/>
              </a:rPr>
              <a:t>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691640"/>
            <a:ext cx="2194560" cy="13716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32120" y="1783080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FastAPI /process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32120" y="2148840"/>
            <a:ext cx="1920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classify → branch logic → persist (Turso)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2194560"/>
            <a:ext cx="457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BAF7A"/>
                </a:solidFill>
                <a:latin typeface="Arial"/>
              </a:rPr>
              <a:t>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38160" y="1691640"/>
            <a:ext cx="1828800" cy="13716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78308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n8n</a:t>
            </a:r>
          </a:p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(delivery)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2148840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POST webhook w/ case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310896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1BAF7A"/>
                </a:solidFill>
                <a:latin typeface="Arial"/>
              </a:rPr>
              <a:t>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23760" y="3429000"/>
            <a:ext cx="1828800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20" y="35204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Slack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38862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routed by department / queue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35440" y="3429000"/>
            <a:ext cx="1828800" cy="100584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352044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Email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886200"/>
            <a:ext cx="1554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Mailtrap — subscriber replies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846320"/>
            <a:ext cx="5120640" cy="1463040"/>
          </a:xfrm>
          <a:prstGeom prst="rect">
            <a:avLst/>
          </a:prstGeom>
          <a:solidFill>
            <a:srgbClr val="35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937760"/>
            <a:ext cx="4846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Streamlit Console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03520"/>
            <a:ext cx="48463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case queue · human approval · edit draft before send · GET/POST /console/*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943600" y="4846320"/>
            <a:ext cx="3108960" cy="1463040"/>
          </a:xfrm>
          <a:prstGeom prst="rect">
            <a:avLst/>
          </a:prstGeom>
          <a:solidFill>
            <a:srgbClr val="353F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60" y="4937760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Streamlit 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5303520"/>
            <a:ext cx="28346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E5E9F2"/>
                </a:solidFill>
                <a:latin typeface="Arial"/>
              </a:rPr>
              <a:t>volume · status · SLA · confidence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82512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A93A6"/>
                </a:solidFill>
                <a:latin typeface="Arial"/>
              </a:rPr>
              <a:t>Why the split: if n8n breaks, only delivery pauses — the reasoning and data layer (FastAPI + Turso) are unaffected.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Incoming Request Processing Workflow — Orbit Mobile POC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AF7A"/>
                </a:solidFill>
                <a:latin typeface="Arial"/>
              </a:rPr>
              <a:t>03 ·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Four branches, one classification call, a human-editable send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AF7A"/>
                </a:solidFill>
                <a:latin typeface="Arial"/>
              </a:rPr>
              <a:t>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Arial"/>
              </a:rPr>
              <a:t>▸  Single Gemini call (gemini-3.1-flash-lite) returns structured JSON: {type, urgency, confidence}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Arial"/>
              </a:rPr>
              <a:t>▸  Department for Service Request is LLM-picked but constrained to a fixed 5-item enum, validated server-side — makes Slack routing deterministic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57600"/>
            <a:ext cx="5486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AF7A"/>
                </a:solidFill>
                <a:latin typeface="Arial"/>
              </a:rPr>
              <a:t>GROUNDING &amp; HUMAN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77639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Arial"/>
              </a:rPr>
              <a:t>▸  RAG (ChromaDB) grounds Enquiry answers in a curated telecom FAQ — prevents invented plan prices/policies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00">
                <a:solidFill>
                  <a:srgbClr val="FFFFFF"/>
                </a:solidFill>
                <a:latin typeface="Arial"/>
              </a:rPr>
              <a:t>▸  Complaint &amp; Escalation drafts are held in the Console for human approval, with the AI draft editable before it's sent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691640"/>
            <a:ext cx="146304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1783080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0" y="1691640"/>
            <a:ext cx="91440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2" y="1783080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Urgency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691640"/>
            <a:ext cx="228600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42832" y="1783080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Key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80" y="1691640"/>
            <a:ext cx="914400" cy="50292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228832" y="1783080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Approval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194560"/>
            <a:ext cx="146304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2295144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Enquiry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2194560"/>
            <a:ext cx="91440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28432" y="229514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CA30C"/>
                </a:solidFill>
                <a:latin typeface="Arial"/>
              </a:rPr>
              <a:t>Low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2194560"/>
            <a:ext cx="228600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2295144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RAG answer, auto-emailed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155680" y="2194560"/>
            <a:ext cx="91440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228832" y="229514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2697480"/>
            <a:ext cx="146304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65392" y="2798064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Service Request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55280" y="2697480"/>
            <a:ext cx="9144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79806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DA100"/>
                </a:solidFill>
                <a:latin typeface="Arial"/>
              </a:rPr>
              <a:t>Medium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680" y="2697480"/>
            <a:ext cx="22860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42832" y="2798064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Routed to dept + Slack + email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155680" y="2697480"/>
            <a:ext cx="9144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228832" y="279806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No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200400"/>
            <a:ext cx="146304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65392" y="3300984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Complaint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80" y="3200400"/>
            <a:ext cx="91440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28432" y="330098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EB6834"/>
                </a:solidFill>
                <a:latin typeface="Arial"/>
              </a:rPr>
              <a:t>High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869680" y="3200400"/>
            <a:ext cx="228600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42832" y="3300984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Slack alert + draft 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155680" y="3200400"/>
            <a:ext cx="914400" cy="5029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228832" y="330098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3703320"/>
            <a:ext cx="146304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65392" y="3803904"/>
            <a:ext cx="131673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Escalation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80" y="3703320"/>
            <a:ext cx="9144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28432" y="380390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D03B3B"/>
                </a:solidFill>
                <a:latin typeface="Arial"/>
              </a:rPr>
              <a:t>Critical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69680" y="3703320"/>
            <a:ext cx="22860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42832" y="3803904"/>
            <a:ext cx="21396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Slack alert (no SLA promised)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155680" y="3703320"/>
            <a:ext cx="914400" cy="502920"/>
          </a:xfrm>
          <a:prstGeom prst="rect">
            <a:avLst/>
          </a:prstGeom>
          <a:solidFill>
            <a:srgbClr val="16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228832" y="3803904"/>
            <a:ext cx="76809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Arial"/>
              </a:rPr>
              <a:t>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4343400"/>
            <a:ext cx="55778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A93A6"/>
                </a:solidFill>
                <a:latin typeface="Arial"/>
              </a:rPr>
              <a:t>Tech stack: FastAPI · Gemini · ChromaDB · Turso (libSQL) · n8n · Streamlit · Slack · Mailtrap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Incoming Request Processing Workflow — Orbit Mobile POC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AF7A"/>
                </a:solidFill>
                <a:latin typeface="Arial"/>
              </a:rPr>
              <a:t>04 ·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What broke, and how we found out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691640"/>
            <a:ext cx="5394960" cy="21031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91640"/>
            <a:ext cx="73152" cy="2103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56232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n8n webhook payload nesting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AED"/>
                </a:solidFill>
                <a:latin typeface="Arial"/>
              </a:rPr>
              <a:t>The processed case arrives under $json.body, not $json — routing rules silently matched nothing until traced through node-by-node execution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1691640"/>
            <a:ext cx="5394960" cy="21031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691640"/>
            <a:ext cx="73152" cy="2103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56232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Inconsistent IMAP email parsing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77440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AED"/>
                </a:solidFill>
                <a:latin typeface="Arial"/>
              </a:rPr>
              <a:t>The Email Trigger node's textPlain field was sometimes absent for a given poll batch, and n8n coerced the missing value to the literal string "undefined" — fixed with type-checked expressions plus a server-side rejection of undefined-like text.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39"/>
            <a:ext cx="5394960" cy="21031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39"/>
            <a:ext cx="73152" cy="2103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42231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Slack routing needs a Bot Token, not a webhook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39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AED"/>
                </a:solidFill>
                <a:latin typeface="Arial"/>
              </a:rPr>
              <a:t>Incoming Webhooks are locked to one channel; real department/supervisor routing required switching to chat.postMessage with a Bot Token and a channel lookup 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3977639"/>
            <a:ext cx="5394960" cy="2103120"/>
          </a:xfrm>
          <a:prstGeom prst="rect">
            <a:avLst/>
          </a:prstGeom>
          <a:solidFill>
            <a:srgbClr val="1A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3977639"/>
            <a:ext cx="73152" cy="210312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142231"/>
            <a:ext cx="4892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LLM draft quality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63439"/>
            <a:ext cx="4892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E8EAED"/>
                </a:solidFill>
                <a:latin typeface="Arial"/>
              </a:rPr>
              <a:t>Free-form prompts for complaint/escalation acknowledgements produced multiple "Option 1/2/3" variants; switching to the same strict JSON-schema pattern used for Enquiry/Service Request fixed it consistently.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Incoming Request Processing Workflow — Orbit Mobile POC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A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BAF7A"/>
                </a:solidFill>
                <a:latin typeface="Arial"/>
              </a:rPr>
              <a:t>05 · DEMO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21792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Arial"/>
              </a:rPr>
              <a:t>All four branches, end to end — and 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298448"/>
            <a:ext cx="1005840" cy="3810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AF7A"/>
                </a:solidFill>
                <a:latin typeface="Arial"/>
              </a:rPr>
              <a:t>DEMO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11680"/>
            <a:ext cx="5394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A request submitted via web form, email, or the Console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Live classification into type + urgency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Branch-specific delivery: Slack message in the correct department/queue channel, and an email via Mailtrap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Human approval in the Console for Complaint/Escalation, with an editable draft before sending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Aggregate view in the Dashboard: volume, status, SLA timers, AI 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BAF7A"/>
                </a:solidFill>
                <a:latin typeface="Arial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Second trained classifier (sentence-embeddings + logistic regression/XGBoost) benchmarked against the LLM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Automated response self-check pass before any send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SLA breach automation — an n8n Wait node that fires reminders/escalations on deadline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FFFFFF"/>
                </a:solidFill>
                <a:latin typeface="Arial"/>
              </a:rPr>
              <a:t>▸  Move email delivery off the Mailtrap sandbox to a real subscriber-facing inbox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51052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Incoming Request Processing Workflow — Orbit Mobile POC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51052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93A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